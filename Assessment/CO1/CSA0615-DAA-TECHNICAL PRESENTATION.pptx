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oppins Light" panose="00000400000000000000" pitchFamily="2" charset="0"/>
      <p:regular r:id="rId14"/>
      <p:bold r:id="rId15"/>
      <p:italic r:id="rId16"/>
      <p:boldItalic r:id="rId17"/>
    </p:embeddedFont>
    <p:embeddedFont>
      <p:font typeface="Roboto Light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2ffffb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g3f82ffffb7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g3f82ffffb7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1779275" y="1512525"/>
            <a:ext cx="8405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  <a:endParaRPr sz="3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7815250" y="4970600"/>
            <a:ext cx="40017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3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P.Likith Vardhan</a:t>
            </a:r>
            <a:br>
              <a:rPr lang="en-US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192365052</a:t>
            </a:r>
            <a:endParaRPr sz="3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1840638" y="2568600"/>
            <a:ext cx="851040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Comparing Growth Functions: Visualizing Algorithmic Complexity</a:t>
            </a:r>
            <a:endParaRPr sz="33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5233360" y="1796455"/>
            <a:ext cx="6296860" cy="17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700"/>
              <a:buFont typeface="Poppins Light"/>
              <a:buNone/>
            </a:pPr>
            <a:endParaRPr sz="37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5135037" y="2358728"/>
            <a:ext cx="6296860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950" i="0" u="none" strike="noStrike" cap="none" dirty="0">
                <a:solidFill>
                  <a:srgbClr val="E5E0D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Purpose: To analyze O(log n), O(n), O(n log n), O(n²), and O(2ⁿ) using clear visualizations and concise technical interpretation. This deck helps engineers and decision-makers choose algorithms that remain practical as input sizes grow.</a:t>
            </a:r>
            <a:endParaRPr sz="195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661475" y="1477566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Why compare growth functions?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653506"/>
            <a:ext cx="4070744" cy="230673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5199726" y="2403574"/>
            <a:ext cx="6336745" cy="151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Comparing asymptotic growth provides intuition about how resource use (time or memory) scales with input size n.         - Guides algorithm selection for different problem sizes and environments.         - Highlights thresholds where an algorithm becomes impractical.         - Complements empirical benchmarking by explaining theoretical limits.       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5199726" y="4128294"/>
            <a:ext cx="6336745" cy="1039416"/>
          </a:xfrm>
          <a:prstGeom prst="roundRect">
            <a:avLst>
              <a:gd name="adj" fmla="val 7638"/>
            </a:avLst>
          </a:pr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" name="Google Shape;4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8733" y="4415036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5813974" y="4345583"/>
            <a:ext cx="553349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This presentation focuses on asymptotic rates (big-O) rather than constant factors.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661475" y="1347589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Definitions — the five growth rates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19809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/>
          <p:nvPr/>
        </p:nvSpPr>
        <p:spPr>
          <a:xfrm>
            <a:off x="1370177" y="2198092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O(log 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1370177" y="2606774"/>
            <a:ext cx="2756724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Time grows proportional to the logarithm of n. Typical for binary search and balanced-tree operations.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63135" y="219809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5071836" y="2198092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5071836" y="2606774"/>
            <a:ext cx="275672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Time grows linearly with n. Seen in single-pass scans and simple aggregation.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794" y="2198092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8773496" y="2198092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 log 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773496" y="2606774"/>
            <a:ext cx="275672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Linearithmic growth; common in efficient comparison-based sorts (merge sort, heapsort).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475" y="4194473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1370177" y="4194473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O(n²)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370177" y="4603155"/>
            <a:ext cx="275672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Quadratic growth from nested loops; typical in naive pairwise comparisons.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63135" y="4194473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5071836" y="4194473"/>
            <a:ext cx="2756724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O(2ⁿ)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5071836" y="4603155"/>
            <a:ext cx="2756724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Exponential growth; occurs in many naive combinatorial or brute-force search problems.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661475" y="2209899"/>
            <a:ext cx="6296860" cy="944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Visual comparison — growth curves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661475" y="3438327"/>
            <a:ext cx="6296860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The chart visualizes relative growth on a wide input range. Note: horizontal axis spans small to very large n (log-scaled for readability). Curves diverge sharply: O(2ⁿ) becomes dominant very quickly; O(n²) overtakes linear rates for large 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661475" y="604341"/>
            <a:ext cx="10868745" cy="3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200"/>
              <a:buFont typeface="Poppins Light"/>
              <a:buNone/>
            </a:pPr>
            <a:r>
              <a:rPr lang="en-US" sz="280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Quantitative snapshot — runtime at selected 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1171375"/>
            <a:ext cx="10964876" cy="45658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/>
        </p:nvSpPr>
        <p:spPr>
          <a:xfrm>
            <a:off x="661475" y="5856784"/>
            <a:ext cx="1086874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 Light"/>
              <a:buNone/>
            </a:pPr>
            <a:r>
              <a:rPr lang="en-US" sz="160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Note on units: column values are conceptual operation counts (log uses base-2 rounded). Exponential values quickly exceed representable ranges — shown here to emphasize impracticality.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/>
          <p:nvPr/>
        </p:nvSpPr>
        <p:spPr>
          <a:xfrm>
            <a:off x="661475" y="797223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3650" i="0" u="none" strike="noStrike" cap="none">
                <a:solidFill>
                  <a:srgbClr val="F2F2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Practicality thresholds</a:t>
            </a:r>
            <a:endParaRPr sz="365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661475" y="1723231"/>
            <a:ext cx="5203794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Heuristic guidance for algorithm selection by problem scale:         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661475" y="2498130"/>
            <a:ext cx="5203794" cy="292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Char char="•"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Small n (&lt; 100): O(n²) may be acceptable if implementation simple and constants small.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Char char="•"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Moderate n (100 — 100k): Prefer O(n log n) or O(n) for predictable performance.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Char char="•"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Very large n (&gt; 100k): O(n) or O(log n) are desirable; O(n log n) can still be acceptable depending on constants and memory.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4640" marR="0" lvl="0" indent="-29464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Char char="•"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Combinatorial problems: O(2ⁿ) is only feasible for n ≤ ~50 with heavy pruning or specialized algorithms.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661475" y="5588198"/>
            <a:ext cx="581337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2776" y="2332434"/>
            <a:ext cx="5203794" cy="29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661475" y="1353741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When exponential appears — mitigation strategies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661475" y="2204244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856832" y="2399605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Algorithmic improvements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856832" y="2808288"/>
            <a:ext cx="4949106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Use dynamic programming, memoization, or problem reductions to reduce exponential to polynomial when possible.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6190301" y="2204244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6385658" y="2399605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Approximation &amp; heuristics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6385658" y="2808288"/>
            <a:ext cx="494920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Accept near-optimal solutions (greedy, local search) when exact solution is infeasible.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661475" y="4099917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856832" y="4295279"/>
            <a:ext cx="494910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Constraint pruning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856832" y="4703961"/>
            <a:ext cx="4949106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Apply branch-and-bound, bounding functions, and domain constraints to cut search space drastically.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6190301" y="4099917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9525" cap="flat" cmpd="sng">
            <a:solidFill>
              <a:srgbClr val="56565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6385658" y="4295279"/>
            <a:ext cx="494920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Parallelism &amp; hardware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6385658" y="4703961"/>
            <a:ext cx="4949205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Distribute work and use GPUs/TPUs for exploitable parallel subproblems, but note asymptotic growth remains limiting.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661475" y="1326356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Space vs time trade-offs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653506"/>
            <a:ext cx="4070744" cy="230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5199726" y="2252365"/>
            <a:ext cx="6336745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Many optimizations trade memory for speed:         - Memoization: increases space to reduce recomputation (time → from exponential to polynomial in some cases).         - External memory algorithms: stream data to reduce RAM requirements, often increasing I/O cost.         - Choose algorithms considering both time complexity and memory footprint for target environment.       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5199726" y="4279503"/>
            <a:ext cx="6336745" cy="1039416"/>
          </a:xfrm>
          <a:prstGeom prst="roundRect">
            <a:avLst>
              <a:gd name="adj" fmla="val 7638"/>
            </a:avLst>
          </a:pr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8733" y="4566245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5813974" y="4496792"/>
            <a:ext cx="5533490" cy="60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Complexity class alone does not guarantee practical performance — constants, cache behavior, and I/O matter.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661475" y="1164431"/>
            <a:ext cx="10868745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Poppins Light"/>
              <a:buNone/>
            </a:pPr>
            <a:r>
              <a:rPr lang="en-US" sz="295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Summary — which functions scale?</a:t>
            </a:r>
            <a:endParaRPr sz="2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2014934"/>
            <a:ext cx="3496877" cy="17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977479" y="2229346"/>
            <a:ext cx="296646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O(log 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977479" y="2638028"/>
            <a:ext cx="296646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Scales extremely well; preferred when available (indexed search, balanced trees).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359" y="2014934"/>
            <a:ext cx="3496877" cy="17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4663363" y="2229346"/>
            <a:ext cx="296646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4663363" y="2638028"/>
            <a:ext cx="296646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Predictable and practical for large n; linear-time algorithms are often ideal for massive datasets.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3244" y="2014934"/>
            <a:ext cx="3496877" cy="17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8349247" y="2229346"/>
            <a:ext cx="296646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 log n)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349247" y="2638028"/>
            <a:ext cx="296646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Acceptable for most large-scale tasks (sorting, many divide-and-conquer algorithms).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75" y="3948708"/>
            <a:ext cx="3496877" cy="17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3"/>
          <p:cNvSpPr/>
          <p:nvPr/>
        </p:nvSpPr>
        <p:spPr>
          <a:xfrm>
            <a:off x="977479" y="4163120"/>
            <a:ext cx="296646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O(n²)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977479" y="4571802"/>
            <a:ext cx="296646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Feasible only for small-to-moderate n; optimize or replace for large inputs.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7359" y="3948708"/>
            <a:ext cx="3496877" cy="174476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/>
          <p:nvPr/>
        </p:nvSpPr>
        <p:spPr>
          <a:xfrm>
            <a:off x="4663363" y="4163120"/>
            <a:ext cx="296646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Poppins Light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O(2ⁿ)</a:t>
            </a: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663363" y="4571802"/>
            <a:ext cx="296646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Generally impractical beyond very small n; requires algorithmic transformation or approximation.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661475" y="96490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3700"/>
              <a:buFont typeface="Poppins Light"/>
              <a:buNone/>
            </a:pPr>
            <a:r>
              <a:rPr lang="en-US" sz="3700" b="0" i="0" u="none" strike="noStrike" cap="none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Conclusions &amp; Recommendations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61475" y="2009080"/>
            <a:ext cx="5770220" cy="211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E5E0DF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- Prefer O(log n) or O(n) for systems that must scale to millions of items.         - Use O(n log n) as a practical compromise for sorting and many algorithms; optimize constants.         - Replace or reengineer O(n²) and O(2ⁿ) solutions for large inputs: consider algorithmic redesign, DP, approximation, or problem relaxation.         - Always complement asymptotic analysis with profiling on representative data and consider memory, I/O, and parallelism.       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661475" y="4338638"/>
            <a:ext cx="5770220" cy="1341834"/>
          </a:xfrm>
          <a:prstGeom prst="roundRect">
            <a:avLst>
              <a:gd name="adj" fmla="val 5916"/>
            </a:avLst>
          </a:prstGeom>
          <a:solidFill>
            <a:srgbClr val="3D3D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482" y="4625380"/>
            <a:ext cx="236234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/>
          <p:nvPr/>
        </p:nvSpPr>
        <p:spPr>
          <a:xfrm>
            <a:off x="1275723" y="4555927"/>
            <a:ext cx="4966965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Light"/>
              <a:buNone/>
            </a:pPr>
            <a:r>
              <a:rPr lang="en-US" sz="145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         Next steps: benchmark candidate algorithms on real datasets, record wall-clock and memory, and validate assumptions about input distributions.       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9202" y="2552105"/>
            <a:ext cx="4637269" cy="26278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/>
          <p:nvPr/>
        </p:nvSpPr>
        <p:spPr>
          <a:xfrm>
            <a:off x="10184375" y="6523475"/>
            <a:ext cx="2007300" cy="334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Widescreen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Poppins Light</vt:lpstr>
      <vt:lpstr>Roboto Light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Likith Vardhan Paluru</cp:lastModifiedBy>
  <cp:revision>1</cp:revision>
  <dcterms:modified xsi:type="dcterms:W3CDTF">2026-07-20T05:02:22Z</dcterms:modified>
</cp:coreProperties>
</file>